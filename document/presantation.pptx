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85072A7D-BDD7-4223-BFF2-03D1D4572092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A366042-5CBA-4323-BBB8-141BD22DD0E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6822737-46F9-4A2C-9553-D6AA5CF8E75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5261014-19EE-47CD-A2F3-7959DF7BF4C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4818BF1-AFFC-4349-B969-A142693F235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92591B3-E735-43CA-93CD-AE03D987D1E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EEBACA2-B0CF-4B4F-871E-A307C71B8C7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188A4FD-2428-4754-A4AB-4764BE82991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1DEFF44-1024-4D5E-BEB7-57A29E851F6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2.png"/><Relationship Id="rId3" Type="http://schemas.openxmlformats.org/officeDocument/2006/relationships/image" Target="../media/image14.png"/><Relationship Id="rId4" Type="http://schemas.openxmlformats.org/officeDocument/2006/relationships/image" Target="../media/image16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3931560" cy="5143320"/>
          </a:xfrm>
          <a:prstGeom prst="rect">
            <a:avLst/>
          </a:prstGeom>
          <a:solidFill>
            <a:srgbClr val="F5C800"/>
          </a:solidFill>
          <a:ln w="12700">
            <a:solidFill>
              <a:srgbClr val="F5C8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3703320" y="0"/>
            <a:ext cx="411120" cy="51433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7863840" y="-640080"/>
            <a:ext cx="2194200" cy="2194200"/>
          </a:xfrm>
          <a:prstGeom prst="ellipse">
            <a:avLst/>
          </a:prstGeom>
          <a:solidFill>
            <a:srgbClr val="FFF8D6"/>
          </a:solidFill>
          <a:ln w="12700">
            <a:solidFill>
              <a:srgbClr val="F5C8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3"/>
          <p:cNvSpPr/>
          <p:nvPr/>
        </p:nvSpPr>
        <p:spPr>
          <a:xfrm>
            <a:off x="6766560" y="3474720"/>
            <a:ext cx="1462680" cy="1462680"/>
          </a:xfrm>
          <a:prstGeom prst="ellipse">
            <a:avLst/>
          </a:prstGeom>
          <a:solidFill>
            <a:srgbClr val="FFF8D6"/>
          </a:solidFill>
          <a:ln w="12700">
            <a:solidFill>
              <a:srgbClr val="F5C8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255960" y="1051560"/>
            <a:ext cx="33372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200" b="1" u="none" spc="201" strike="noStrike">
                <a:solidFill>
                  <a:srgbClr val="111111"/>
                </a:solidFill>
                <a:effectLst/>
                <a:uFillTx/>
                <a:latin typeface="Georgia"/>
                <a:ea typeface="Georgia"/>
              </a:rPr>
              <a:t>DOC</a:t>
            </a:r>
            <a:endParaRPr lang="en-US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255960" y="2011680"/>
            <a:ext cx="33372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200" b="1" u="none" spc="201" strike="noStrike">
                <a:solidFill>
                  <a:srgbClr val="111111"/>
                </a:solidFill>
                <a:effectLst/>
                <a:uFillTx/>
                <a:latin typeface="Georgia"/>
                <a:ea typeface="Georgia"/>
              </a:rPr>
              <a:t>TUSS</a:t>
            </a:r>
            <a:endParaRPr lang="en-US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6"/>
          <p:cNvSpPr/>
          <p:nvPr/>
        </p:nvSpPr>
        <p:spPr>
          <a:xfrm>
            <a:off x="255960" y="3246120"/>
            <a:ext cx="32914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2D2D2D"/>
                </a:solidFill>
                <a:effectLst/>
                <a:uFillTx/>
                <a:latin typeface="Trebuchet MS"/>
                <a:ea typeface="Trebuchet MS"/>
              </a:rPr>
              <a:t>Plateforme de Sante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7"/>
          <p:cNvSpPr/>
          <p:nvPr/>
        </p:nvSpPr>
        <p:spPr>
          <a:xfrm>
            <a:off x="255960" y="3749040"/>
            <a:ext cx="1096920" cy="453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8"/>
          <p:cNvSpPr/>
          <p:nvPr/>
        </p:nvSpPr>
        <p:spPr>
          <a:xfrm>
            <a:off x="255960" y="3950280"/>
            <a:ext cx="13712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2D2D2D"/>
                </a:solidFill>
                <a:effectLst/>
                <a:uFillTx/>
                <a:latin typeface="Calibri"/>
                <a:ea typeface="Calibri"/>
              </a:rPr>
              <a:t>2026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9"/>
          <p:cNvSpPr/>
          <p:nvPr/>
        </p:nvSpPr>
        <p:spPr>
          <a:xfrm>
            <a:off x="4343400" y="1005840"/>
            <a:ext cx="45716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111111"/>
                </a:solidFill>
                <a:effectLst/>
                <a:uFillTx/>
                <a:latin typeface="Georgia"/>
                <a:ea typeface="Georgia"/>
              </a:rPr>
              <a:t>La sante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0"/>
          <p:cNvSpPr/>
          <p:nvPr/>
        </p:nvSpPr>
        <p:spPr>
          <a:xfrm>
            <a:off x="4343400" y="1664280"/>
            <a:ext cx="45716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i="1" u="none" strike="noStrike">
                <a:solidFill>
                  <a:srgbClr val="F5C800"/>
                </a:solidFill>
                <a:effectLst/>
                <a:uFillTx/>
                <a:latin typeface="Georgia"/>
                <a:ea typeface="Georgia"/>
              </a:rPr>
              <a:t>simplifiee.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1"/>
          <p:cNvSpPr/>
          <p:nvPr/>
        </p:nvSpPr>
        <p:spPr>
          <a:xfrm>
            <a:off x="4343400" y="2487240"/>
            <a:ext cx="448020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55555"/>
                </a:solidFill>
                <a:effectLst/>
                <a:uFillTx/>
                <a:latin typeface="Calibri"/>
                <a:ea typeface="Calibri"/>
              </a:rPr>
              <a:t>Connecter patients, medecins et administrateurs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55555"/>
                </a:solidFill>
                <a:effectLst/>
                <a:uFillTx/>
                <a:latin typeface="Calibri"/>
                <a:ea typeface="Calibri"/>
              </a:rPr>
              <a:t>via recherche, agenda, verification et moderation.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12"/>
          <p:cNvSpPr/>
          <p:nvPr/>
        </p:nvSpPr>
        <p:spPr>
          <a:xfrm>
            <a:off x="4343400" y="3493080"/>
            <a:ext cx="1535760" cy="420120"/>
          </a:xfrm>
          <a:prstGeom prst="rect">
            <a:avLst/>
          </a:prstGeom>
          <a:solidFill>
            <a:srgbClr val="26C6DA"/>
          </a:solidFill>
          <a:ln w="12700">
            <a:solidFill>
              <a:srgbClr val="26C6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3"/>
          <p:cNvSpPr/>
          <p:nvPr/>
        </p:nvSpPr>
        <p:spPr>
          <a:xfrm>
            <a:off x="4343400" y="3493080"/>
            <a:ext cx="15357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Rechercher &amp; Reserver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14"/>
          <p:cNvSpPr/>
          <p:nvPr/>
        </p:nvSpPr>
        <p:spPr>
          <a:xfrm>
            <a:off x="6007680" y="3493080"/>
            <a:ext cx="1535760" cy="420120"/>
          </a:xfrm>
          <a:prstGeom prst="rect">
            <a:avLst/>
          </a:prstGeom>
          <a:solidFill>
            <a:srgbClr val="AB47BC"/>
          </a:solidFill>
          <a:ln w="12700">
            <a:solidFill>
              <a:srgbClr val="AB47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5"/>
          <p:cNvSpPr/>
          <p:nvPr/>
        </p:nvSpPr>
        <p:spPr>
          <a:xfrm>
            <a:off x="6007680" y="3493080"/>
            <a:ext cx="15357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Verifier &amp; Approuver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16"/>
          <p:cNvSpPr/>
          <p:nvPr/>
        </p:nvSpPr>
        <p:spPr>
          <a:xfrm>
            <a:off x="7671960" y="3493080"/>
            <a:ext cx="1535760" cy="420120"/>
          </a:xfrm>
          <a:prstGeom prst="rect">
            <a:avLst/>
          </a:prstGeom>
          <a:solidFill>
            <a:srgbClr val="EC407A"/>
          </a:solidFill>
          <a:ln w="12700">
            <a:solidFill>
              <a:srgbClr val="EC40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7"/>
          <p:cNvSpPr/>
          <p:nvPr/>
        </p:nvSpPr>
        <p:spPr>
          <a:xfrm>
            <a:off x="7671960" y="3493080"/>
            <a:ext cx="15357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Gerer &amp; Moderer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18"/>
          <p:cNvSpPr/>
          <p:nvPr/>
        </p:nvSpPr>
        <p:spPr>
          <a:xfrm>
            <a:off x="0" y="4873680"/>
            <a:ext cx="9143640" cy="269280"/>
          </a:xfrm>
          <a:prstGeom prst="rect">
            <a:avLst/>
          </a:prstGeom>
          <a:solidFill>
            <a:srgbClr val="F5C800"/>
          </a:solidFill>
          <a:ln w="12700">
            <a:solidFill>
              <a:srgbClr val="F5C8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0"/>
          <p:cNvSpPr/>
          <p:nvPr/>
        </p:nvSpPr>
        <p:spPr>
          <a:xfrm>
            <a:off x="0" y="0"/>
            <a:ext cx="9143640" cy="9324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1"/>
          <p:cNvSpPr/>
          <p:nvPr/>
        </p:nvSpPr>
        <p:spPr>
          <a:xfrm>
            <a:off x="0" y="896040"/>
            <a:ext cx="9143640" cy="63720"/>
          </a:xfrm>
          <a:prstGeom prst="rect">
            <a:avLst/>
          </a:prstGeom>
          <a:solidFill>
            <a:srgbClr val="F5C800"/>
          </a:solidFill>
          <a:ln w="12700">
            <a:solidFill>
              <a:srgbClr val="F5C8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2"/>
          <p:cNvSpPr/>
          <p:nvPr/>
        </p:nvSpPr>
        <p:spPr>
          <a:xfrm>
            <a:off x="384120" y="9144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Apercu du Projet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3"/>
          <p:cNvSpPr/>
          <p:nvPr/>
        </p:nvSpPr>
        <p:spPr>
          <a:xfrm>
            <a:off x="274320" y="1143000"/>
            <a:ext cx="4205880" cy="1737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round/>
          </a:ln>
          <a:effectLst>
            <a:outerShdw algn="bl" blurRad="203040" dir="8100000" dist="6313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4"/>
          <p:cNvSpPr/>
          <p:nvPr/>
        </p:nvSpPr>
        <p:spPr>
          <a:xfrm>
            <a:off x="274320" y="1143000"/>
            <a:ext cx="4205880" cy="63720"/>
          </a:xfrm>
          <a:prstGeom prst="rect">
            <a:avLst/>
          </a:prstGeom>
          <a:solidFill>
            <a:srgbClr val="F5C800"/>
          </a:solidFill>
          <a:ln w="12700">
            <a:solidFill>
              <a:srgbClr val="F5C8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5"/>
          <p:cNvSpPr/>
          <p:nvPr/>
        </p:nvSpPr>
        <p:spPr>
          <a:xfrm>
            <a:off x="274320" y="1143000"/>
            <a:ext cx="109440" cy="1737000"/>
          </a:xfrm>
          <a:prstGeom prst="rect">
            <a:avLst/>
          </a:prstGeom>
          <a:solidFill>
            <a:srgbClr val="F5C800"/>
          </a:solidFill>
          <a:ln w="12700">
            <a:solidFill>
              <a:srgbClr val="F5C8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6"/>
          <p:cNvSpPr/>
          <p:nvPr/>
        </p:nvSpPr>
        <p:spPr>
          <a:xfrm>
            <a:off x="530280" y="1325880"/>
            <a:ext cx="3748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11111"/>
                </a:solidFill>
                <a:effectLst/>
                <a:uFillTx/>
                <a:latin typeface="Trebuchet MS"/>
                <a:ea typeface="Trebuchet MS"/>
              </a:rPr>
              <a:t>Objectif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7"/>
          <p:cNvSpPr/>
          <p:nvPr/>
        </p:nvSpPr>
        <p:spPr>
          <a:xfrm>
            <a:off x="530280" y="1801440"/>
            <a:ext cx="37486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55555"/>
                </a:solidFill>
                <a:effectLst/>
                <a:uFillTx/>
                <a:latin typeface="Calibri"/>
                <a:ea typeface="Calibri"/>
              </a:rPr>
              <a:t>Plateforme web simplifiant la decouverte de medecins et la prise de rendez-vous en ligne.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8"/>
          <p:cNvSpPr/>
          <p:nvPr/>
        </p:nvSpPr>
        <p:spPr>
          <a:xfrm>
            <a:off x="4709160" y="1143000"/>
            <a:ext cx="4205880" cy="1737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round/>
          </a:ln>
          <a:effectLst>
            <a:outerShdw algn="bl" blurRad="203040" dir="8100000" dist="6313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9"/>
          <p:cNvSpPr/>
          <p:nvPr/>
        </p:nvSpPr>
        <p:spPr>
          <a:xfrm>
            <a:off x="4709160" y="1143000"/>
            <a:ext cx="4205880" cy="637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10"/>
          <p:cNvSpPr/>
          <p:nvPr/>
        </p:nvSpPr>
        <p:spPr>
          <a:xfrm>
            <a:off x="4709160" y="1143000"/>
            <a:ext cx="109440" cy="17370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1"/>
          <p:cNvSpPr/>
          <p:nvPr/>
        </p:nvSpPr>
        <p:spPr>
          <a:xfrm>
            <a:off x="4965120" y="1325880"/>
            <a:ext cx="3748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11111"/>
                </a:solidFill>
                <a:effectLst/>
                <a:uFillTx/>
                <a:latin typeface="Trebuchet MS"/>
                <a:ea typeface="Trebuchet MS"/>
              </a:rPr>
              <a:t>Pour les Patients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2"/>
          <p:cNvSpPr/>
          <p:nvPr/>
        </p:nvSpPr>
        <p:spPr>
          <a:xfrm>
            <a:off x="4965120" y="1801440"/>
            <a:ext cx="37486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55555"/>
                </a:solidFill>
                <a:effectLst/>
                <a:uFillTx/>
                <a:latin typeface="Calibri"/>
                <a:ea typeface="Calibri"/>
              </a:rPr>
              <a:t>Rechercher, reserver et noter les medecins en un seul endroit.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13"/>
          <p:cNvSpPr/>
          <p:nvPr/>
        </p:nvSpPr>
        <p:spPr>
          <a:xfrm>
            <a:off x="274320" y="3063240"/>
            <a:ext cx="4205880" cy="1737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round/>
          </a:ln>
          <a:effectLst>
            <a:outerShdw algn="bl" blurRad="203040" dir="8100000" dist="6313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14"/>
          <p:cNvSpPr/>
          <p:nvPr/>
        </p:nvSpPr>
        <p:spPr>
          <a:xfrm>
            <a:off x="274320" y="3063240"/>
            <a:ext cx="4205880" cy="63720"/>
          </a:xfrm>
          <a:prstGeom prst="rect">
            <a:avLst/>
          </a:prstGeom>
          <a:solidFill>
            <a:srgbClr val="FF5252"/>
          </a:solidFill>
          <a:ln w="12700">
            <a:solidFill>
              <a:srgbClr val="FF52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15"/>
          <p:cNvSpPr/>
          <p:nvPr/>
        </p:nvSpPr>
        <p:spPr>
          <a:xfrm>
            <a:off x="274320" y="3063240"/>
            <a:ext cx="109440" cy="1737000"/>
          </a:xfrm>
          <a:prstGeom prst="rect">
            <a:avLst/>
          </a:prstGeom>
          <a:solidFill>
            <a:srgbClr val="FF5252"/>
          </a:solidFill>
          <a:ln w="12700">
            <a:solidFill>
              <a:srgbClr val="FF52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6"/>
          <p:cNvSpPr/>
          <p:nvPr/>
        </p:nvSpPr>
        <p:spPr>
          <a:xfrm>
            <a:off x="530280" y="3246120"/>
            <a:ext cx="3748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11111"/>
                </a:solidFill>
                <a:effectLst/>
                <a:uFillTx/>
                <a:latin typeface="Trebuchet MS"/>
                <a:ea typeface="Trebuchet MS"/>
              </a:rPr>
              <a:t>Pour les Medecins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17"/>
          <p:cNvSpPr/>
          <p:nvPr/>
        </p:nvSpPr>
        <p:spPr>
          <a:xfrm>
            <a:off x="530280" y="3721680"/>
            <a:ext cx="37486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55555"/>
                </a:solidFill>
                <a:effectLst/>
                <a:uFillTx/>
                <a:latin typeface="Calibri"/>
                <a:ea typeface="Calibri"/>
              </a:rPr>
              <a:t>Gerer profils, plannings et consultations sans effort.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18"/>
          <p:cNvSpPr/>
          <p:nvPr/>
        </p:nvSpPr>
        <p:spPr>
          <a:xfrm>
            <a:off x="4709160" y="3063240"/>
            <a:ext cx="4205880" cy="1737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round/>
          </a:ln>
          <a:effectLst>
            <a:outerShdw algn="bl" blurRad="203040" dir="8100000" dist="6313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19"/>
          <p:cNvSpPr/>
          <p:nvPr/>
        </p:nvSpPr>
        <p:spPr>
          <a:xfrm>
            <a:off x="4709160" y="3063240"/>
            <a:ext cx="4205880" cy="63720"/>
          </a:xfrm>
          <a:prstGeom prst="rect">
            <a:avLst/>
          </a:prstGeom>
          <a:solidFill>
            <a:srgbClr val="AB47BC"/>
          </a:solidFill>
          <a:ln w="12700">
            <a:solidFill>
              <a:srgbClr val="AB47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20"/>
          <p:cNvSpPr/>
          <p:nvPr/>
        </p:nvSpPr>
        <p:spPr>
          <a:xfrm>
            <a:off x="4709160" y="3063240"/>
            <a:ext cx="109440" cy="1737000"/>
          </a:xfrm>
          <a:prstGeom prst="rect">
            <a:avLst/>
          </a:prstGeom>
          <a:solidFill>
            <a:srgbClr val="AB47BC"/>
          </a:solidFill>
          <a:ln w="12700">
            <a:solidFill>
              <a:srgbClr val="AB47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21"/>
          <p:cNvSpPr/>
          <p:nvPr/>
        </p:nvSpPr>
        <p:spPr>
          <a:xfrm>
            <a:off x="4965120" y="3246120"/>
            <a:ext cx="3748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11111"/>
                </a:solidFill>
                <a:effectLst/>
                <a:uFillTx/>
                <a:latin typeface="Trebuchet MS"/>
                <a:ea typeface="Trebuchet MS"/>
              </a:rPr>
              <a:t>Pour les Admins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22"/>
          <p:cNvSpPr/>
          <p:nvPr/>
        </p:nvSpPr>
        <p:spPr>
          <a:xfrm>
            <a:off x="4965120" y="3721680"/>
            <a:ext cx="37486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55555"/>
                </a:solidFill>
                <a:effectLst/>
                <a:uFillTx/>
                <a:latin typeface="Calibri"/>
                <a:ea typeface="Calibri"/>
              </a:rPr>
              <a:t>Visibilite totale : verifier, moderer et gouverner la plateforme.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0"/>
          <p:cNvSpPr/>
          <p:nvPr/>
        </p:nvSpPr>
        <p:spPr>
          <a:xfrm>
            <a:off x="0" y="0"/>
            <a:ext cx="9143640" cy="932400"/>
          </a:xfrm>
          <a:prstGeom prst="rect">
            <a:avLst/>
          </a:prstGeom>
          <a:solidFill>
            <a:srgbClr val="F5C800"/>
          </a:solidFill>
          <a:ln w="12700">
            <a:solidFill>
              <a:srgbClr val="F5C8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1"/>
          <p:cNvSpPr/>
          <p:nvPr/>
        </p:nvSpPr>
        <p:spPr>
          <a:xfrm>
            <a:off x="0" y="896040"/>
            <a:ext cx="9143640" cy="637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2"/>
          <p:cNvSpPr/>
          <p:nvPr/>
        </p:nvSpPr>
        <p:spPr>
          <a:xfrm>
            <a:off x="384120" y="9144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11111"/>
                </a:solidFill>
                <a:effectLst/>
                <a:uFillTx/>
                <a:latin typeface="Georgia"/>
                <a:ea typeface="Georgia"/>
              </a:rPr>
              <a:t>Acteurs Principaux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3"/>
          <p:cNvSpPr/>
          <p:nvPr/>
        </p:nvSpPr>
        <p:spPr>
          <a:xfrm>
            <a:off x="255960" y="1078920"/>
            <a:ext cx="2742840" cy="3821760"/>
          </a:xfrm>
          <a:prstGeom prst="rect">
            <a:avLst/>
          </a:prstGeom>
          <a:solidFill>
            <a:srgbClr val="111111"/>
          </a:solidFill>
          <a:ln w="6350">
            <a:solidFill>
              <a:srgbClr val="111111"/>
            </a:solidFill>
            <a:round/>
          </a:ln>
          <a:effectLst>
            <a:outerShdw algn="bl" blurRad="203040" dir="8100000" dist="6313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4"/>
          <p:cNvSpPr/>
          <p:nvPr/>
        </p:nvSpPr>
        <p:spPr>
          <a:xfrm>
            <a:off x="255960" y="1078920"/>
            <a:ext cx="2742840" cy="637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5"/>
          <p:cNvSpPr/>
          <p:nvPr/>
        </p:nvSpPr>
        <p:spPr>
          <a:xfrm>
            <a:off x="1261800" y="1261800"/>
            <a:ext cx="731160" cy="731160"/>
          </a:xfrm>
          <a:prstGeom prst="ellipse">
            <a:avLst/>
          </a:prstGeom>
          <a:solidFill>
            <a:srgbClr val="E0F7FA"/>
          </a:solidFill>
          <a:ln w="12700">
            <a:solidFill>
              <a:srgbClr val="E0F7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8" name="Image 0" descr="preencoded.png"/>
          <p:cNvPicPr/>
          <p:nvPr/>
        </p:nvPicPr>
        <p:blipFill>
          <a:blip r:embed="rId1"/>
          <a:stretch/>
        </p:blipFill>
        <p:spPr>
          <a:xfrm>
            <a:off x="1386360" y="1386360"/>
            <a:ext cx="482400" cy="482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" name="Text 6"/>
          <p:cNvSpPr/>
          <p:nvPr/>
        </p:nvSpPr>
        <p:spPr>
          <a:xfrm>
            <a:off x="255960" y="2084760"/>
            <a:ext cx="2742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0BCD4"/>
                </a:solidFill>
                <a:effectLst/>
                <a:uFillTx/>
                <a:latin typeface="Georgia"/>
                <a:ea typeface="Georgia"/>
              </a:rPr>
              <a:t>Patient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7"/>
          <p:cNvSpPr/>
          <p:nvPr/>
        </p:nvSpPr>
        <p:spPr>
          <a:xfrm>
            <a:off x="420480" y="2633400"/>
            <a:ext cx="2422800" cy="208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BBBBBB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BBBBBB"/>
                </a:solidFill>
                <a:effectLst/>
                <a:uFillTx/>
                <a:latin typeface="Calibri"/>
                <a:ea typeface="Calibri"/>
              </a:rPr>
              <a:t>Rechercher par ville et specialite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BBBBBB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BBBBBB"/>
                </a:solidFill>
                <a:effectLst/>
                <a:uFillTx/>
                <a:latin typeface="Calibri"/>
                <a:ea typeface="Calibri"/>
              </a:rPr>
              <a:t>Consulter profils, avis et disponibilites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BBBBBB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BBBBBB"/>
                </a:solidFill>
                <a:effectLst/>
                <a:uFillTx/>
                <a:latin typeface="Calibri"/>
                <a:ea typeface="Calibri"/>
              </a:rPr>
              <a:t>Reserver des rendez-vous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BBBBBB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BBBBBB"/>
                </a:solidFill>
                <a:effectLst/>
                <a:uFillTx/>
                <a:latin typeface="Calibri"/>
                <a:ea typeface="Calibri"/>
              </a:rPr>
              <a:t>Noter le medecin apres consultation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8"/>
          <p:cNvSpPr/>
          <p:nvPr/>
        </p:nvSpPr>
        <p:spPr>
          <a:xfrm>
            <a:off x="3200400" y="1078920"/>
            <a:ext cx="2742840" cy="3821760"/>
          </a:xfrm>
          <a:prstGeom prst="rect">
            <a:avLst/>
          </a:prstGeom>
          <a:solidFill>
            <a:srgbClr val="F5C800"/>
          </a:solidFill>
          <a:ln w="6350">
            <a:solidFill>
              <a:srgbClr val="F5C800"/>
            </a:solidFill>
            <a:round/>
          </a:ln>
          <a:effectLst>
            <a:outerShdw algn="bl" blurRad="203040" dir="8100000" dist="6313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9"/>
          <p:cNvSpPr/>
          <p:nvPr/>
        </p:nvSpPr>
        <p:spPr>
          <a:xfrm>
            <a:off x="3200400" y="1078920"/>
            <a:ext cx="2742840" cy="63720"/>
          </a:xfrm>
          <a:prstGeom prst="rect">
            <a:avLst/>
          </a:prstGeom>
          <a:solidFill>
            <a:srgbClr val="FF5252"/>
          </a:solidFill>
          <a:ln w="12700">
            <a:solidFill>
              <a:srgbClr val="FF52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10"/>
          <p:cNvSpPr/>
          <p:nvPr/>
        </p:nvSpPr>
        <p:spPr>
          <a:xfrm>
            <a:off x="4206240" y="1261800"/>
            <a:ext cx="731160" cy="731160"/>
          </a:xfrm>
          <a:prstGeom prst="ellipse">
            <a:avLst/>
          </a:prstGeom>
          <a:solidFill>
            <a:srgbClr val="FFF3E0"/>
          </a:solidFill>
          <a:ln w="12700">
            <a:solidFill>
              <a:srgbClr val="FFF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4" name="Image 1" descr="preencoded.png"/>
          <p:cNvPicPr/>
          <p:nvPr/>
        </p:nvPicPr>
        <p:blipFill>
          <a:blip r:embed="rId2"/>
          <a:stretch/>
        </p:blipFill>
        <p:spPr>
          <a:xfrm>
            <a:off x="4330440" y="1386360"/>
            <a:ext cx="482400" cy="482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" name="Text 11"/>
          <p:cNvSpPr/>
          <p:nvPr/>
        </p:nvSpPr>
        <p:spPr>
          <a:xfrm>
            <a:off x="3200400" y="2084760"/>
            <a:ext cx="2742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11111"/>
                </a:solidFill>
                <a:effectLst/>
                <a:uFillTx/>
                <a:latin typeface="Georgia"/>
                <a:ea typeface="Georgia"/>
              </a:rPr>
              <a:t>Medecin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12"/>
          <p:cNvSpPr/>
          <p:nvPr/>
        </p:nvSpPr>
        <p:spPr>
          <a:xfrm>
            <a:off x="3364920" y="2633400"/>
            <a:ext cx="2422800" cy="208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2D2D2D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2D2D2D"/>
                </a:solidFill>
                <a:effectLst/>
                <a:uFillTx/>
                <a:latin typeface="Calibri"/>
                <a:ea typeface="Calibri"/>
              </a:rPr>
              <a:t>Creer et gerer son profil professionnel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2D2D2D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2D2D2D"/>
                </a:solidFill>
                <a:effectLst/>
                <a:uFillTx/>
                <a:latin typeface="Calibri"/>
                <a:ea typeface="Calibri"/>
              </a:rPr>
              <a:t>Definir horaires hebdomadaires et speciaux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2D2D2D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2D2D2D"/>
                </a:solidFill>
                <a:effectLst/>
                <a:uFillTx/>
                <a:latin typeface="Calibri"/>
                <a:ea typeface="Calibri"/>
              </a:rPr>
              <a:t>Approuver ou reporter des rendez-vous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2D2D2D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2D2D2D"/>
                </a:solidFill>
                <a:effectLst/>
                <a:uFillTx/>
                <a:latin typeface="Calibri"/>
                <a:ea typeface="Calibri"/>
              </a:rPr>
              <a:t>Demander un badge de verification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13"/>
          <p:cNvSpPr/>
          <p:nvPr/>
        </p:nvSpPr>
        <p:spPr>
          <a:xfrm>
            <a:off x="6144840" y="1078920"/>
            <a:ext cx="2742840" cy="3821760"/>
          </a:xfrm>
          <a:prstGeom prst="rect">
            <a:avLst/>
          </a:prstGeom>
          <a:solidFill>
            <a:srgbClr val="111111"/>
          </a:solidFill>
          <a:ln w="6350">
            <a:solidFill>
              <a:srgbClr val="111111"/>
            </a:solidFill>
            <a:round/>
          </a:ln>
          <a:effectLst>
            <a:outerShdw algn="bl" blurRad="203040" dir="8100000" dist="6313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14"/>
          <p:cNvSpPr/>
          <p:nvPr/>
        </p:nvSpPr>
        <p:spPr>
          <a:xfrm>
            <a:off x="6144840" y="1078920"/>
            <a:ext cx="2742840" cy="63720"/>
          </a:xfrm>
          <a:prstGeom prst="rect">
            <a:avLst/>
          </a:prstGeom>
          <a:solidFill>
            <a:srgbClr val="AB47BC"/>
          </a:solidFill>
          <a:ln w="12700">
            <a:solidFill>
              <a:srgbClr val="AB47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15"/>
          <p:cNvSpPr/>
          <p:nvPr/>
        </p:nvSpPr>
        <p:spPr>
          <a:xfrm>
            <a:off x="7150680" y="1261800"/>
            <a:ext cx="731160" cy="731160"/>
          </a:xfrm>
          <a:prstGeom prst="ellipse">
            <a:avLst/>
          </a:prstGeom>
          <a:solidFill>
            <a:srgbClr val="F3E5F5"/>
          </a:solidFill>
          <a:ln w="12700">
            <a:solidFill>
              <a:srgbClr val="F3E5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0" name="Image 2" descr="preencoded.png"/>
          <p:cNvPicPr/>
          <p:nvPr/>
        </p:nvPicPr>
        <p:blipFill>
          <a:blip r:embed="rId3"/>
          <a:stretch/>
        </p:blipFill>
        <p:spPr>
          <a:xfrm>
            <a:off x="7274880" y="1386360"/>
            <a:ext cx="482400" cy="482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" name="Text 16"/>
          <p:cNvSpPr/>
          <p:nvPr/>
        </p:nvSpPr>
        <p:spPr>
          <a:xfrm>
            <a:off x="6144840" y="2084760"/>
            <a:ext cx="2742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AB47BC"/>
                </a:solidFill>
                <a:effectLst/>
                <a:uFillTx/>
                <a:latin typeface="Georgia"/>
                <a:ea typeface="Georgia"/>
              </a:rPr>
              <a:t>Administrateur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17"/>
          <p:cNvSpPr/>
          <p:nvPr/>
        </p:nvSpPr>
        <p:spPr>
          <a:xfrm>
            <a:off x="6309360" y="2633400"/>
            <a:ext cx="2422800" cy="208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BBBBBB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BBBBBB"/>
                </a:solidFill>
                <a:effectLst/>
                <a:uFillTx/>
                <a:latin typeface="Calibri"/>
                <a:ea typeface="Calibri"/>
              </a:rPr>
              <a:t>Suspendre ou activer des utilisateurs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BBBBBB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BBBBBB"/>
                </a:solidFill>
                <a:effectLst/>
                <a:uFillTx/>
                <a:latin typeface="Calibri"/>
                <a:ea typeface="Calibri"/>
              </a:rPr>
              <a:t>Approuver les demandes de verification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BBBBBB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BBBBBB"/>
                </a:solidFill>
                <a:effectLst/>
                <a:uFillTx/>
                <a:latin typeface="Calibri"/>
                <a:ea typeface="Calibri"/>
              </a:rPr>
              <a:t>Moderer les avis et commentaires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BBBBBB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BBBBBB"/>
                </a:solidFill>
                <a:effectLst/>
                <a:uFillTx/>
                <a:latin typeface="Calibri"/>
                <a:ea typeface="Calibri"/>
              </a:rPr>
              <a:t>Gouvernance par roles et droits d'acces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hape 0"/>
          <p:cNvSpPr/>
          <p:nvPr/>
        </p:nvSpPr>
        <p:spPr>
          <a:xfrm>
            <a:off x="0" y="0"/>
            <a:ext cx="9143640" cy="9324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1"/>
          <p:cNvSpPr/>
          <p:nvPr/>
        </p:nvSpPr>
        <p:spPr>
          <a:xfrm>
            <a:off x="0" y="896040"/>
            <a:ext cx="9143640" cy="63720"/>
          </a:xfrm>
          <a:prstGeom prst="rect">
            <a:avLst/>
          </a:prstGeom>
          <a:solidFill>
            <a:srgbClr val="F5C800"/>
          </a:solidFill>
          <a:ln w="12700">
            <a:solidFill>
              <a:srgbClr val="F5C8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2"/>
          <p:cNvSpPr/>
          <p:nvPr/>
        </p:nvSpPr>
        <p:spPr>
          <a:xfrm>
            <a:off x="384120" y="9144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Couverture Fonctionnelle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3"/>
          <p:cNvSpPr/>
          <p:nvPr/>
        </p:nvSpPr>
        <p:spPr>
          <a:xfrm>
            <a:off x="274320" y="1115640"/>
            <a:ext cx="4205880" cy="1737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round/>
          </a:ln>
          <a:effectLst>
            <a:outerShdw algn="bl" blurRad="203040" dir="8100000" dist="6313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4"/>
          <p:cNvSpPr/>
          <p:nvPr/>
        </p:nvSpPr>
        <p:spPr>
          <a:xfrm>
            <a:off x="274320" y="1115640"/>
            <a:ext cx="4205880" cy="63720"/>
          </a:xfrm>
          <a:prstGeom prst="rect">
            <a:avLst/>
          </a:prstGeom>
          <a:solidFill>
            <a:srgbClr val="26C6DA"/>
          </a:solidFill>
          <a:ln w="12700">
            <a:solidFill>
              <a:srgbClr val="26C6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5"/>
          <p:cNvSpPr/>
          <p:nvPr/>
        </p:nvSpPr>
        <p:spPr>
          <a:xfrm>
            <a:off x="457200" y="1591200"/>
            <a:ext cx="712800" cy="712800"/>
          </a:xfrm>
          <a:prstGeom prst="ellipse">
            <a:avLst/>
          </a:prstGeom>
          <a:solidFill>
            <a:srgbClr val="E0F7FA"/>
          </a:solidFill>
          <a:ln w="12700">
            <a:solidFill>
              <a:srgbClr val="E0F7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9" name="Image 0" descr="preencoded.png"/>
          <p:cNvPicPr/>
          <p:nvPr/>
        </p:nvPicPr>
        <p:blipFill>
          <a:blip r:embed="rId1"/>
          <a:stretch/>
        </p:blipFill>
        <p:spPr>
          <a:xfrm>
            <a:off x="578520" y="1712160"/>
            <a:ext cx="470520" cy="47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" name="Text 6"/>
          <p:cNvSpPr/>
          <p:nvPr/>
        </p:nvSpPr>
        <p:spPr>
          <a:xfrm>
            <a:off x="1353240" y="1517760"/>
            <a:ext cx="29714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11111"/>
                </a:solidFill>
                <a:effectLst/>
                <a:uFillTx/>
                <a:latin typeface="Trebuchet MS"/>
                <a:ea typeface="Trebuchet MS"/>
              </a:rPr>
              <a:t>Recherche &amp; Decouverte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7"/>
          <p:cNvSpPr/>
          <p:nvPr/>
        </p:nvSpPr>
        <p:spPr>
          <a:xfrm>
            <a:off x="1353240" y="1984320"/>
            <a:ext cx="2971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55555"/>
                </a:solidFill>
                <a:effectLst/>
                <a:uFillTx/>
                <a:latin typeface="Calibri"/>
                <a:ea typeface="Calibri"/>
              </a:rPr>
              <a:t>Filtrer par ville, specialite, genre et statut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8"/>
          <p:cNvSpPr/>
          <p:nvPr/>
        </p:nvSpPr>
        <p:spPr>
          <a:xfrm>
            <a:off x="4709160" y="1115640"/>
            <a:ext cx="4205880" cy="1737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round/>
          </a:ln>
          <a:effectLst>
            <a:outerShdw algn="bl" blurRad="203040" dir="8100000" dist="6313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9"/>
          <p:cNvSpPr/>
          <p:nvPr/>
        </p:nvSpPr>
        <p:spPr>
          <a:xfrm>
            <a:off x="4709160" y="1115640"/>
            <a:ext cx="4205880" cy="63720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10"/>
          <p:cNvSpPr/>
          <p:nvPr/>
        </p:nvSpPr>
        <p:spPr>
          <a:xfrm>
            <a:off x="4892040" y="1591200"/>
            <a:ext cx="712800" cy="71280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E8F5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5" name="Image 1" descr="preencoded.png"/>
          <p:cNvPicPr/>
          <p:nvPr/>
        </p:nvPicPr>
        <p:blipFill>
          <a:blip r:embed="rId2"/>
          <a:stretch/>
        </p:blipFill>
        <p:spPr>
          <a:xfrm>
            <a:off x="5013360" y="1712160"/>
            <a:ext cx="470520" cy="47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" name="Text 11"/>
          <p:cNvSpPr/>
          <p:nvPr/>
        </p:nvSpPr>
        <p:spPr>
          <a:xfrm>
            <a:off x="5788080" y="1517760"/>
            <a:ext cx="29714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11111"/>
                </a:solidFill>
                <a:effectLst/>
                <a:uFillTx/>
                <a:latin typeface="Trebuchet MS"/>
                <a:ea typeface="Trebuchet MS"/>
              </a:rPr>
              <a:t>Rendez-vous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12"/>
          <p:cNvSpPr/>
          <p:nvPr/>
        </p:nvSpPr>
        <p:spPr>
          <a:xfrm>
            <a:off x="5788080" y="1984320"/>
            <a:ext cx="2971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55555"/>
                </a:solidFill>
                <a:effectLst/>
                <a:uFillTx/>
                <a:latin typeface="Calibri"/>
                <a:ea typeface="Calibri"/>
              </a:rPr>
              <a:t>Endpoints REST · en attente -&gt; approuve -&gt; clos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13"/>
          <p:cNvSpPr/>
          <p:nvPr/>
        </p:nvSpPr>
        <p:spPr>
          <a:xfrm>
            <a:off x="274320" y="3035880"/>
            <a:ext cx="4205880" cy="1737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round/>
          </a:ln>
          <a:effectLst>
            <a:outerShdw algn="bl" blurRad="203040" dir="8100000" dist="6313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14"/>
          <p:cNvSpPr/>
          <p:nvPr/>
        </p:nvSpPr>
        <p:spPr>
          <a:xfrm>
            <a:off x="274320" y="3035880"/>
            <a:ext cx="4205880" cy="63720"/>
          </a:xfrm>
          <a:prstGeom prst="rect">
            <a:avLst/>
          </a:prstGeom>
          <a:solidFill>
            <a:srgbClr val="FFA726"/>
          </a:solidFill>
          <a:ln w="12700">
            <a:solidFill>
              <a:srgbClr val="FFA7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15"/>
          <p:cNvSpPr/>
          <p:nvPr/>
        </p:nvSpPr>
        <p:spPr>
          <a:xfrm>
            <a:off x="457200" y="3511440"/>
            <a:ext cx="712800" cy="712800"/>
          </a:xfrm>
          <a:prstGeom prst="ellipse">
            <a:avLst/>
          </a:prstGeom>
          <a:solidFill>
            <a:srgbClr val="FFF3E0"/>
          </a:solidFill>
          <a:ln w="12700">
            <a:solidFill>
              <a:srgbClr val="FFF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1" name="Image 2" descr="preencoded.png"/>
          <p:cNvPicPr/>
          <p:nvPr/>
        </p:nvPicPr>
        <p:blipFill>
          <a:blip r:embed="rId3"/>
          <a:stretch/>
        </p:blipFill>
        <p:spPr>
          <a:xfrm>
            <a:off x="578520" y="3632400"/>
            <a:ext cx="470520" cy="47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" name="Text 16"/>
          <p:cNvSpPr/>
          <p:nvPr/>
        </p:nvSpPr>
        <p:spPr>
          <a:xfrm>
            <a:off x="1353240" y="3438000"/>
            <a:ext cx="29714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11111"/>
                </a:solidFill>
                <a:effectLst/>
                <a:uFillTx/>
                <a:latin typeface="Trebuchet MS"/>
                <a:ea typeface="Trebuchet MS"/>
              </a:rPr>
              <a:t>Profils Medecins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7"/>
          <p:cNvSpPr/>
          <p:nvPr/>
        </p:nvSpPr>
        <p:spPr>
          <a:xfrm>
            <a:off x="1353240" y="3904560"/>
            <a:ext cx="2971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55555"/>
                </a:solidFill>
                <a:effectLst/>
                <a:uFillTx/>
                <a:latin typeface="Calibri"/>
                <a:ea typeface="Calibri"/>
              </a:rPr>
              <a:t>Bio, avis, plannings et etat de verification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18"/>
          <p:cNvSpPr/>
          <p:nvPr/>
        </p:nvSpPr>
        <p:spPr>
          <a:xfrm>
            <a:off x="4709160" y="3035880"/>
            <a:ext cx="4205880" cy="1737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round/>
          </a:ln>
          <a:effectLst>
            <a:outerShdw algn="bl" blurRad="203040" dir="8100000" dist="6313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19"/>
          <p:cNvSpPr/>
          <p:nvPr/>
        </p:nvSpPr>
        <p:spPr>
          <a:xfrm>
            <a:off x="4709160" y="3035880"/>
            <a:ext cx="4205880" cy="63720"/>
          </a:xfrm>
          <a:prstGeom prst="rect">
            <a:avLst/>
          </a:prstGeom>
          <a:solidFill>
            <a:srgbClr val="EC407A"/>
          </a:solidFill>
          <a:ln w="12700">
            <a:solidFill>
              <a:srgbClr val="EC40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20"/>
          <p:cNvSpPr/>
          <p:nvPr/>
        </p:nvSpPr>
        <p:spPr>
          <a:xfrm>
            <a:off x="4892040" y="3511440"/>
            <a:ext cx="712800" cy="712800"/>
          </a:xfrm>
          <a:prstGeom prst="ellipse">
            <a:avLst/>
          </a:prstGeom>
          <a:solidFill>
            <a:srgbClr val="FCE4EC"/>
          </a:solidFill>
          <a:ln w="12700">
            <a:solidFill>
              <a:srgbClr val="FCE4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7" name="Image 3" descr="preencoded.png"/>
          <p:cNvPicPr/>
          <p:nvPr/>
        </p:nvPicPr>
        <p:blipFill>
          <a:blip r:embed="rId4"/>
          <a:stretch/>
        </p:blipFill>
        <p:spPr>
          <a:xfrm>
            <a:off x="5013360" y="3632400"/>
            <a:ext cx="470520" cy="47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8" name="Text 21"/>
          <p:cNvSpPr/>
          <p:nvPr/>
        </p:nvSpPr>
        <p:spPr>
          <a:xfrm>
            <a:off x="5788080" y="3438000"/>
            <a:ext cx="29714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11111"/>
                </a:solidFill>
                <a:effectLst/>
                <a:uFillTx/>
                <a:latin typeface="Trebuchet MS"/>
                <a:ea typeface="Trebuchet MS"/>
              </a:rPr>
              <a:t>Panneau Admin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22"/>
          <p:cNvSpPr/>
          <p:nvPr/>
        </p:nvSpPr>
        <p:spPr>
          <a:xfrm>
            <a:off x="5788080" y="3904560"/>
            <a:ext cx="2971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55555"/>
                </a:solidFill>
                <a:effectLst/>
                <a:uFillTx/>
                <a:latin typeface="Calibri"/>
                <a:ea typeface="Calibri"/>
              </a:rPr>
              <a:t>Moderation, verification et gestion utilisateurs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 0"/>
          <p:cNvSpPr/>
          <p:nvPr/>
        </p:nvSpPr>
        <p:spPr>
          <a:xfrm>
            <a:off x="0" y="0"/>
            <a:ext cx="9143640" cy="932400"/>
          </a:xfrm>
          <a:prstGeom prst="rect">
            <a:avLst/>
          </a:prstGeom>
          <a:solidFill>
            <a:srgbClr val="F5C800"/>
          </a:solidFill>
          <a:ln w="12700">
            <a:solidFill>
              <a:srgbClr val="F5C8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1"/>
          <p:cNvSpPr/>
          <p:nvPr/>
        </p:nvSpPr>
        <p:spPr>
          <a:xfrm>
            <a:off x="0" y="896040"/>
            <a:ext cx="9143640" cy="637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2"/>
          <p:cNvSpPr/>
          <p:nvPr/>
        </p:nvSpPr>
        <p:spPr>
          <a:xfrm>
            <a:off x="384120" y="9144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11111"/>
                </a:solidFill>
                <a:effectLst/>
                <a:uFillTx/>
                <a:latin typeface="Georgia"/>
                <a:ea typeface="Georgia"/>
              </a:rPr>
              <a:t>Architecture &amp; Stack Technique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3"/>
          <p:cNvSpPr/>
          <p:nvPr/>
        </p:nvSpPr>
        <p:spPr>
          <a:xfrm>
            <a:off x="255960" y="1078920"/>
            <a:ext cx="2742840" cy="3821760"/>
          </a:xfrm>
          <a:prstGeom prst="rect">
            <a:avLst/>
          </a:prstGeom>
          <a:solidFill>
            <a:srgbClr val="111111"/>
          </a:solidFill>
          <a:ln w="6350">
            <a:solidFill>
              <a:srgbClr val="111111"/>
            </a:solidFill>
            <a:round/>
          </a:ln>
          <a:effectLst>
            <a:outerShdw algn="bl" blurRad="203040" dir="8100000" dist="6313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4"/>
          <p:cNvSpPr/>
          <p:nvPr/>
        </p:nvSpPr>
        <p:spPr>
          <a:xfrm>
            <a:off x="255960" y="1078920"/>
            <a:ext cx="2742840" cy="63720"/>
          </a:xfrm>
          <a:prstGeom prst="rect">
            <a:avLst/>
          </a:prstGeom>
          <a:solidFill>
            <a:srgbClr val="42B883"/>
          </a:solidFill>
          <a:ln w="12700">
            <a:solidFill>
              <a:srgbClr val="42B88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5"/>
          <p:cNvSpPr/>
          <p:nvPr/>
        </p:nvSpPr>
        <p:spPr>
          <a:xfrm>
            <a:off x="1261800" y="1261800"/>
            <a:ext cx="731160" cy="73116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E8F5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6" name="Image 0" descr="preencoded.png"/>
          <p:cNvPicPr/>
          <p:nvPr/>
        </p:nvPicPr>
        <p:blipFill>
          <a:blip r:embed="rId1"/>
          <a:stretch/>
        </p:blipFill>
        <p:spPr>
          <a:xfrm>
            <a:off x="1386360" y="1386360"/>
            <a:ext cx="482400" cy="482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7" name="Text 6"/>
          <p:cNvSpPr/>
          <p:nvPr/>
        </p:nvSpPr>
        <p:spPr>
          <a:xfrm>
            <a:off x="255960" y="2084760"/>
            <a:ext cx="2742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42B883"/>
                </a:solidFill>
                <a:effectLst/>
                <a:uFillTx/>
                <a:latin typeface="Georgia"/>
                <a:ea typeface="Georgia"/>
              </a:rPr>
              <a:t>Frontend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7"/>
          <p:cNvSpPr/>
          <p:nvPr/>
        </p:nvSpPr>
        <p:spPr>
          <a:xfrm>
            <a:off x="420480" y="2633400"/>
            <a:ext cx="2422800" cy="208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BBBBBB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BBBBBB"/>
                </a:solidFill>
                <a:effectLst/>
                <a:uFillTx/>
                <a:latin typeface="Calibri"/>
                <a:ea typeface="Calibri"/>
              </a:rPr>
              <a:t>Vue 3 + Vite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BBBBBB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BBBBBB"/>
                </a:solidFill>
                <a:effectLst/>
                <a:uFillTx/>
                <a:latin typeface="Calibri"/>
                <a:ea typeface="Calibri"/>
              </a:rPr>
              <a:t>Vue Router + I18n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BBBBBB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BBBBBB"/>
                </a:solidFill>
                <a:effectLst/>
                <a:uFillTx/>
                <a:latin typeface="Calibri"/>
                <a:ea typeface="Calibri"/>
              </a:rPr>
              <a:t>FR / EN / Arabe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BBBBBB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BBBBBB"/>
                </a:solidFill>
                <a:effectLst/>
                <a:uFillTx/>
                <a:latin typeface="Calibri"/>
                <a:ea typeface="Calibri"/>
              </a:rPr>
              <a:t>Vues Patient, Medecin, Admin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8"/>
          <p:cNvSpPr/>
          <p:nvPr/>
        </p:nvSpPr>
        <p:spPr>
          <a:xfrm>
            <a:off x="3200400" y="1078920"/>
            <a:ext cx="2742840" cy="3821760"/>
          </a:xfrm>
          <a:prstGeom prst="rect">
            <a:avLst/>
          </a:prstGeom>
          <a:solidFill>
            <a:srgbClr val="F5C800"/>
          </a:solidFill>
          <a:ln w="6350">
            <a:solidFill>
              <a:srgbClr val="F5C800"/>
            </a:solidFill>
            <a:round/>
          </a:ln>
          <a:effectLst>
            <a:outerShdw algn="bl" blurRad="203040" dir="8100000" dist="6313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9"/>
          <p:cNvSpPr/>
          <p:nvPr/>
        </p:nvSpPr>
        <p:spPr>
          <a:xfrm>
            <a:off x="3200400" y="1078920"/>
            <a:ext cx="2742840" cy="637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10"/>
          <p:cNvSpPr/>
          <p:nvPr/>
        </p:nvSpPr>
        <p:spPr>
          <a:xfrm>
            <a:off x="4206240" y="1261800"/>
            <a:ext cx="731160" cy="731160"/>
          </a:xfrm>
          <a:prstGeom prst="ellipse">
            <a:avLst/>
          </a:prstGeom>
          <a:solidFill>
            <a:srgbClr val="FFF3E0"/>
          </a:solidFill>
          <a:ln w="12700">
            <a:solidFill>
              <a:srgbClr val="FFF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2" name="Image 1" descr="preencoded.png"/>
          <p:cNvPicPr/>
          <p:nvPr/>
        </p:nvPicPr>
        <p:blipFill>
          <a:blip r:embed="rId2"/>
          <a:stretch/>
        </p:blipFill>
        <p:spPr>
          <a:xfrm>
            <a:off x="4330440" y="1386360"/>
            <a:ext cx="482400" cy="482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3" name="Text 11"/>
          <p:cNvSpPr/>
          <p:nvPr/>
        </p:nvSpPr>
        <p:spPr>
          <a:xfrm>
            <a:off x="3200400" y="2084760"/>
            <a:ext cx="2742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11111"/>
                </a:solidFill>
                <a:effectLst/>
                <a:uFillTx/>
                <a:latin typeface="Georgia"/>
                <a:ea typeface="Georgia"/>
              </a:rPr>
              <a:t>Backend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12"/>
          <p:cNvSpPr/>
          <p:nvPr/>
        </p:nvSpPr>
        <p:spPr>
          <a:xfrm>
            <a:off x="3364920" y="2633400"/>
            <a:ext cx="2422800" cy="208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2D2D2D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2D2D2D"/>
                </a:solidFill>
                <a:effectLst/>
                <a:uFillTx/>
                <a:latin typeface="Calibri"/>
                <a:ea typeface="Calibri"/>
              </a:rPr>
              <a:t>API REST Laravel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2D2D2D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2D2D2D"/>
                </a:solidFill>
                <a:effectLst/>
                <a:uFillTx/>
                <a:latin typeface="Calibri"/>
                <a:ea typeface="Calibri"/>
              </a:rPr>
              <a:t>Authentification Sanctum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2D2D2D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2D2D2D"/>
                </a:solidFill>
                <a:effectLst/>
                <a:uFillTx/>
                <a:latin typeface="Calibri"/>
                <a:ea typeface="Calibri"/>
              </a:rPr>
              <a:t>Middleware par role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2D2D2D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2D2D2D"/>
                </a:solidFill>
                <a:effectLst/>
                <a:uFillTx/>
                <a:latin typeface="Calibri"/>
                <a:ea typeface="Calibri"/>
              </a:rPr>
              <a:t>Politiques &amp; controleurs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13"/>
          <p:cNvSpPr/>
          <p:nvPr/>
        </p:nvSpPr>
        <p:spPr>
          <a:xfrm>
            <a:off x="6144840" y="1078920"/>
            <a:ext cx="2742840" cy="3821760"/>
          </a:xfrm>
          <a:prstGeom prst="rect">
            <a:avLst/>
          </a:prstGeom>
          <a:solidFill>
            <a:srgbClr val="111111"/>
          </a:solidFill>
          <a:ln w="6350">
            <a:solidFill>
              <a:srgbClr val="111111"/>
            </a:solidFill>
            <a:round/>
          </a:ln>
          <a:effectLst>
            <a:outerShdw algn="bl" blurRad="203040" dir="8100000" dist="6313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14"/>
          <p:cNvSpPr/>
          <p:nvPr/>
        </p:nvSpPr>
        <p:spPr>
          <a:xfrm>
            <a:off x="6144840" y="1078920"/>
            <a:ext cx="2742840" cy="63720"/>
          </a:xfrm>
          <a:prstGeom prst="rect">
            <a:avLst/>
          </a:prstGeom>
          <a:solidFill>
            <a:srgbClr val="29B6F6"/>
          </a:solidFill>
          <a:ln w="12700">
            <a:solidFill>
              <a:srgbClr val="29B6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15"/>
          <p:cNvSpPr/>
          <p:nvPr/>
        </p:nvSpPr>
        <p:spPr>
          <a:xfrm>
            <a:off x="7150680" y="1261800"/>
            <a:ext cx="731160" cy="731160"/>
          </a:xfrm>
          <a:prstGeom prst="ellipse">
            <a:avLst/>
          </a:prstGeom>
          <a:solidFill>
            <a:srgbClr val="E0F7FA"/>
          </a:solidFill>
          <a:ln w="12700">
            <a:solidFill>
              <a:srgbClr val="E0F7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8" name="Image 2" descr="preencoded.png"/>
          <p:cNvPicPr/>
          <p:nvPr/>
        </p:nvPicPr>
        <p:blipFill>
          <a:blip r:embed="rId3"/>
          <a:stretch/>
        </p:blipFill>
        <p:spPr>
          <a:xfrm>
            <a:off x="7274880" y="1386360"/>
            <a:ext cx="482400" cy="482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9" name="Text 16"/>
          <p:cNvSpPr/>
          <p:nvPr/>
        </p:nvSpPr>
        <p:spPr>
          <a:xfrm>
            <a:off x="6144840" y="2084760"/>
            <a:ext cx="2742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29B6F6"/>
                </a:solidFill>
                <a:effectLst/>
                <a:uFillTx/>
                <a:latin typeface="Georgia"/>
                <a:ea typeface="Georgia"/>
              </a:rPr>
              <a:t>Donnees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17"/>
          <p:cNvSpPr/>
          <p:nvPr/>
        </p:nvSpPr>
        <p:spPr>
          <a:xfrm>
            <a:off x="6309360" y="2633400"/>
            <a:ext cx="2422800" cy="208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BBBBBB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BBBBBB"/>
                </a:solidFill>
                <a:effectLst/>
                <a:uFillTx/>
                <a:latin typeface="Calibri"/>
                <a:ea typeface="Calibri"/>
              </a:rPr>
              <a:t>MySQL 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BBBBBB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BBBBBB"/>
                </a:solidFill>
                <a:effectLst/>
                <a:uFillTx/>
                <a:latin typeface="Calibri"/>
                <a:ea typeface="Calibri"/>
              </a:rPr>
              <a:t>ORM Eloquent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BBBBBB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BBBBBB"/>
                </a:solidFill>
                <a:effectLst/>
                <a:uFillTx/>
                <a:latin typeface="Calibri"/>
                <a:ea typeface="Calibri"/>
              </a:rPr>
              <a:t>Migrations &amp; factories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BBBBBB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BBBBBB"/>
                </a:solidFill>
                <a:effectLst/>
                <a:uFillTx/>
                <a:latin typeface="Calibri"/>
                <a:ea typeface="Calibri"/>
              </a:rPr>
              <a:t>8 entites principales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hape 0"/>
          <p:cNvSpPr/>
          <p:nvPr/>
        </p:nvSpPr>
        <p:spPr>
          <a:xfrm>
            <a:off x="0" y="0"/>
            <a:ext cx="9143640" cy="9324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1"/>
          <p:cNvSpPr/>
          <p:nvPr/>
        </p:nvSpPr>
        <p:spPr>
          <a:xfrm>
            <a:off x="0" y="896040"/>
            <a:ext cx="9143640" cy="63720"/>
          </a:xfrm>
          <a:prstGeom prst="rect">
            <a:avLst/>
          </a:prstGeom>
          <a:solidFill>
            <a:srgbClr val="F5C800"/>
          </a:solidFill>
          <a:ln w="12700">
            <a:solidFill>
              <a:srgbClr val="F5C8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2"/>
          <p:cNvSpPr/>
          <p:nvPr/>
        </p:nvSpPr>
        <p:spPr>
          <a:xfrm>
            <a:off x="384120" y="9144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Logique de Planification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3"/>
          <p:cNvSpPr/>
          <p:nvPr/>
        </p:nvSpPr>
        <p:spPr>
          <a:xfrm>
            <a:off x="274320" y="1115640"/>
            <a:ext cx="4205880" cy="1737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round/>
          </a:ln>
          <a:effectLst>
            <a:outerShdw algn="bl" blurRad="203040" dir="8100000" dist="6313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4"/>
          <p:cNvSpPr/>
          <p:nvPr/>
        </p:nvSpPr>
        <p:spPr>
          <a:xfrm>
            <a:off x="274320" y="1115640"/>
            <a:ext cx="4205880" cy="63720"/>
          </a:xfrm>
          <a:prstGeom prst="rect">
            <a:avLst/>
          </a:prstGeom>
          <a:solidFill>
            <a:srgbClr val="26C6DA"/>
          </a:solidFill>
          <a:ln w="12700">
            <a:solidFill>
              <a:srgbClr val="26C6D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5"/>
          <p:cNvSpPr/>
          <p:nvPr/>
        </p:nvSpPr>
        <p:spPr>
          <a:xfrm>
            <a:off x="457200" y="1591200"/>
            <a:ext cx="712800" cy="712800"/>
          </a:xfrm>
          <a:prstGeom prst="ellipse">
            <a:avLst/>
          </a:prstGeom>
          <a:solidFill>
            <a:srgbClr val="E0F7FA"/>
          </a:solidFill>
          <a:ln w="12700">
            <a:solidFill>
              <a:srgbClr val="E0F7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7" name="Image 0" descr="preencoded.png"/>
          <p:cNvPicPr/>
          <p:nvPr/>
        </p:nvPicPr>
        <p:blipFill>
          <a:blip r:embed="rId1"/>
          <a:stretch/>
        </p:blipFill>
        <p:spPr>
          <a:xfrm>
            <a:off x="578520" y="1712160"/>
            <a:ext cx="470520" cy="47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8" name="Text 6"/>
          <p:cNvSpPr/>
          <p:nvPr/>
        </p:nvSpPr>
        <p:spPr>
          <a:xfrm>
            <a:off x="1353240" y="1517760"/>
            <a:ext cx="29714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11111"/>
                </a:solidFill>
                <a:effectLst/>
                <a:uFillTx/>
                <a:latin typeface="Trebuchet MS"/>
                <a:ea typeface="Trebuchet MS"/>
              </a:rPr>
              <a:t>Statut Dynamique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7"/>
          <p:cNvSpPr/>
          <p:nvPr/>
        </p:nvSpPr>
        <p:spPr>
          <a:xfrm>
            <a:off x="1353240" y="1984320"/>
            <a:ext cx="2971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55555"/>
                </a:solidFill>
                <a:effectLst/>
                <a:uFillTx/>
                <a:latin typeface="Calibri"/>
                <a:ea typeface="Calibri"/>
              </a:rPr>
              <a:t>Disponible · Occupe · Indisponible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55555"/>
                </a:solidFill>
                <a:effectLst/>
                <a:uFillTx/>
                <a:latin typeface="Calibri"/>
                <a:ea typeface="Calibri"/>
              </a:rPr>
              <a:t>calcule en temps reel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8"/>
          <p:cNvSpPr/>
          <p:nvPr/>
        </p:nvSpPr>
        <p:spPr>
          <a:xfrm>
            <a:off x="4709160" y="1115640"/>
            <a:ext cx="4205880" cy="1737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round/>
          </a:ln>
          <a:effectLst>
            <a:outerShdw algn="bl" blurRad="203040" dir="8100000" dist="6313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9"/>
          <p:cNvSpPr/>
          <p:nvPr/>
        </p:nvSpPr>
        <p:spPr>
          <a:xfrm>
            <a:off x="4709160" y="1115640"/>
            <a:ext cx="4205880" cy="63720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10"/>
          <p:cNvSpPr/>
          <p:nvPr/>
        </p:nvSpPr>
        <p:spPr>
          <a:xfrm>
            <a:off x="4892040" y="1591200"/>
            <a:ext cx="712800" cy="71280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E8F5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3" name="Image 1" descr="preencoded.png"/>
          <p:cNvPicPr/>
          <p:nvPr/>
        </p:nvPicPr>
        <p:blipFill>
          <a:blip r:embed="rId2"/>
          <a:stretch/>
        </p:blipFill>
        <p:spPr>
          <a:xfrm>
            <a:off x="5013360" y="1712160"/>
            <a:ext cx="470520" cy="47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4" name="Text 11"/>
          <p:cNvSpPr/>
          <p:nvPr/>
        </p:nvSpPr>
        <p:spPr>
          <a:xfrm>
            <a:off x="5788080" y="1517760"/>
            <a:ext cx="29714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11111"/>
                </a:solidFill>
                <a:effectLst/>
                <a:uFillTx/>
                <a:latin typeface="Trebuchet MS"/>
                <a:ea typeface="Trebuchet MS"/>
              </a:rPr>
              <a:t>Pas de Double Reservation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12"/>
          <p:cNvSpPr/>
          <p:nvPr/>
        </p:nvSpPr>
        <p:spPr>
          <a:xfrm>
            <a:off x="5788080" y="1984320"/>
            <a:ext cx="2971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55555"/>
                </a:solidFill>
                <a:effectLst/>
                <a:uFillTx/>
                <a:latin typeface="Calibri"/>
                <a:ea typeface="Calibri"/>
              </a:rPr>
              <a:t>Un seul creneau actif par medecin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55555"/>
                </a:solidFill>
                <a:effectLst/>
                <a:uFillTx/>
                <a:latin typeface="Calibri"/>
                <a:ea typeface="Calibri"/>
              </a:rPr>
              <a:t>et patient applique strictement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13"/>
          <p:cNvSpPr/>
          <p:nvPr/>
        </p:nvSpPr>
        <p:spPr>
          <a:xfrm>
            <a:off x="274320" y="3035880"/>
            <a:ext cx="4205880" cy="1737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round/>
          </a:ln>
          <a:effectLst>
            <a:outerShdw algn="bl" blurRad="203040" dir="8100000" dist="6313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14"/>
          <p:cNvSpPr/>
          <p:nvPr/>
        </p:nvSpPr>
        <p:spPr>
          <a:xfrm>
            <a:off x="274320" y="3035880"/>
            <a:ext cx="4205880" cy="63720"/>
          </a:xfrm>
          <a:prstGeom prst="rect">
            <a:avLst/>
          </a:prstGeom>
          <a:solidFill>
            <a:srgbClr val="FFA726"/>
          </a:solidFill>
          <a:ln w="12700">
            <a:solidFill>
              <a:srgbClr val="FFA7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15"/>
          <p:cNvSpPr/>
          <p:nvPr/>
        </p:nvSpPr>
        <p:spPr>
          <a:xfrm>
            <a:off x="457200" y="3511440"/>
            <a:ext cx="712800" cy="712800"/>
          </a:xfrm>
          <a:prstGeom prst="ellipse">
            <a:avLst/>
          </a:prstGeom>
          <a:solidFill>
            <a:srgbClr val="FFF3E0"/>
          </a:solidFill>
          <a:ln w="12700">
            <a:solidFill>
              <a:srgbClr val="FFF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9" name="Image 2" descr="preencoded.png"/>
          <p:cNvPicPr/>
          <p:nvPr/>
        </p:nvPicPr>
        <p:blipFill>
          <a:blip r:embed="rId3"/>
          <a:stretch/>
        </p:blipFill>
        <p:spPr>
          <a:xfrm>
            <a:off x="578520" y="3632400"/>
            <a:ext cx="470520" cy="47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0" name="Text 16"/>
          <p:cNvSpPr/>
          <p:nvPr/>
        </p:nvSpPr>
        <p:spPr>
          <a:xfrm>
            <a:off x="1353240" y="3438000"/>
            <a:ext cx="29714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11111"/>
                </a:solidFill>
                <a:effectLst/>
                <a:uFillTx/>
                <a:latin typeface="Trebuchet MS"/>
                <a:ea typeface="Trebuchet MS"/>
              </a:rPr>
              <a:t>Plannings Flexibles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17"/>
          <p:cNvSpPr/>
          <p:nvPr/>
        </p:nvSpPr>
        <p:spPr>
          <a:xfrm>
            <a:off x="1353240" y="3904560"/>
            <a:ext cx="2971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55555"/>
                </a:solidFill>
                <a:effectLst/>
                <a:uFillTx/>
                <a:latin typeface="Calibri"/>
                <a:ea typeface="Calibri"/>
              </a:rPr>
              <a:t>Recurrence hebdomadaire + dates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55555"/>
                </a:solidFill>
                <a:effectLst/>
                <a:uFillTx/>
                <a:latin typeface="Calibri"/>
                <a:ea typeface="Calibri"/>
              </a:rPr>
              <a:t>speciales en remplacement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18"/>
          <p:cNvSpPr/>
          <p:nvPr/>
        </p:nvSpPr>
        <p:spPr>
          <a:xfrm>
            <a:off x="4709160" y="3035880"/>
            <a:ext cx="4205880" cy="1737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round/>
          </a:ln>
          <a:effectLst>
            <a:outerShdw algn="bl" blurRad="203040" dir="8100000" dist="6313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19"/>
          <p:cNvSpPr/>
          <p:nvPr/>
        </p:nvSpPr>
        <p:spPr>
          <a:xfrm>
            <a:off x="4709160" y="3035880"/>
            <a:ext cx="4205880" cy="63720"/>
          </a:xfrm>
          <a:prstGeom prst="rect">
            <a:avLst/>
          </a:prstGeom>
          <a:solidFill>
            <a:srgbClr val="AB47BC"/>
          </a:solidFill>
          <a:ln w="12700">
            <a:solidFill>
              <a:srgbClr val="AB47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20"/>
          <p:cNvSpPr/>
          <p:nvPr/>
        </p:nvSpPr>
        <p:spPr>
          <a:xfrm>
            <a:off x="4892040" y="3511440"/>
            <a:ext cx="712800" cy="712800"/>
          </a:xfrm>
          <a:prstGeom prst="ellipse">
            <a:avLst/>
          </a:prstGeom>
          <a:solidFill>
            <a:srgbClr val="F3E5F5"/>
          </a:solidFill>
          <a:ln w="12700">
            <a:solidFill>
              <a:srgbClr val="F3E5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5" name="Image 3" descr="preencoded.png"/>
          <p:cNvPicPr/>
          <p:nvPr/>
        </p:nvPicPr>
        <p:blipFill>
          <a:blip r:embed="rId4"/>
          <a:stretch/>
        </p:blipFill>
        <p:spPr>
          <a:xfrm>
            <a:off x="5013360" y="3632400"/>
            <a:ext cx="470520" cy="47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6" name="Text 21"/>
          <p:cNvSpPr/>
          <p:nvPr/>
        </p:nvSpPr>
        <p:spPr>
          <a:xfrm>
            <a:off x="5788080" y="3438000"/>
            <a:ext cx="29714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11111"/>
                </a:solidFill>
                <a:effectLst/>
                <a:uFillTx/>
                <a:latin typeface="Trebuchet MS"/>
                <a:ea typeface="Trebuchet MS"/>
              </a:rPr>
              <a:t>Transitions de Statut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22"/>
          <p:cNvSpPr/>
          <p:nvPr/>
        </p:nvSpPr>
        <p:spPr>
          <a:xfrm>
            <a:off x="5788080" y="3904560"/>
            <a:ext cx="2971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55555"/>
                </a:solidFill>
                <a:effectLst/>
                <a:uFillTx/>
                <a:latin typeface="Calibri"/>
                <a:ea typeface="Calibri"/>
              </a:rPr>
              <a:t>En attente -&gt; Approuve -&gt; Clos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55555"/>
                </a:solidFill>
                <a:effectLst/>
                <a:uFillTx/>
                <a:latin typeface="Calibri"/>
                <a:ea typeface="Calibri"/>
              </a:rPr>
              <a:t>flux controle et securise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0"/>
          <p:cNvSpPr/>
          <p:nvPr/>
        </p:nvSpPr>
        <p:spPr>
          <a:xfrm>
            <a:off x="0" y="0"/>
            <a:ext cx="9143640" cy="932400"/>
          </a:xfrm>
          <a:prstGeom prst="rect">
            <a:avLst/>
          </a:prstGeom>
          <a:solidFill>
            <a:srgbClr val="F5C800"/>
          </a:solidFill>
          <a:ln w="12700">
            <a:solidFill>
              <a:srgbClr val="F5C8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1"/>
          <p:cNvSpPr/>
          <p:nvPr/>
        </p:nvSpPr>
        <p:spPr>
          <a:xfrm>
            <a:off x="0" y="896040"/>
            <a:ext cx="9143640" cy="637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2"/>
          <p:cNvSpPr/>
          <p:nvPr/>
        </p:nvSpPr>
        <p:spPr>
          <a:xfrm>
            <a:off x="384120" y="9144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11111"/>
                </a:solidFill>
                <a:effectLst/>
                <a:uFillTx/>
                <a:latin typeface="Georgia"/>
                <a:ea typeface="Georgia"/>
              </a:rPr>
              <a:t>Experiences Utilisateur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3"/>
          <p:cNvSpPr/>
          <p:nvPr/>
        </p:nvSpPr>
        <p:spPr>
          <a:xfrm>
            <a:off x="255960" y="1115640"/>
            <a:ext cx="4114440" cy="3748680"/>
          </a:xfrm>
          <a:prstGeom prst="rect">
            <a:avLst/>
          </a:prstGeom>
          <a:solidFill>
            <a:srgbClr val="111111"/>
          </a:solidFill>
          <a:ln w="6350">
            <a:solidFill>
              <a:srgbClr val="111111"/>
            </a:solidFill>
            <a:round/>
          </a:ln>
          <a:effectLst>
            <a:outerShdw algn="bl" blurRad="203040" dir="8100000" dist="6313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4"/>
          <p:cNvSpPr/>
          <p:nvPr/>
        </p:nvSpPr>
        <p:spPr>
          <a:xfrm>
            <a:off x="255960" y="1115640"/>
            <a:ext cx="4114440" cy="637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5"/>
          <p:cNvSpPr/>
          <p:nvPr/>
        </p:nvSpPr>
        <p:spPr>
          <a:xfrm>
            <a:off x="384120" y="1261800"/>
            <a:ext cx="694440" cy="694440"/>
          </a:xfrm>
          <a:prstGeom prst="ellipse">
            <a:avLst/>
          </a:prstGeom>
          <a:solidFill>
            <a:srgbClr val="E0F7FA"/>
          </a:solidFill>
          <a:ln w="12700">
            <a:solidFill>
              <a:srgbClr val="E0F7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4" name="Image 0" descr="preencoded.png"/>
          <p:cNvPicPr/>
          <p:nvPr/>
        </p:nvPicPr>
        <p:blipFill>
          <a:blip r:embed="rId1"/>
          <a:stretch/>
        </p:blipFill>
        <p:spPr>
          <a:xfrm>
            <a:off x="502200" y="1379880"/>
            <a:ext cx="458280" cy="458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5" name="Text 6"/>
          <p:cNvSpPr/>
          <p:nvPr/>
        </p:nvSpPr>
        <p:spPr>
          <a:xfrm>
            <a:off x="1188720" y="1316880"/>
            <a:ext cx="2925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0BCD4"/>
                </a:solidFill>
                <a:effectLst/>
                <a:uFillTx/>
                <a:latin typeface="Georgia"/>
                <a:ea typeface="Georgia"/>
              </a:rPr>
              <a:t>Patient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7"/>
          <p:cNvSpPr/>
          <p:nvPr/>
        </p:nvSpPr>
        <p:spPr>
          <a:xfrm>
            <a:off x="384120" y="2011680"/>
            <a:ext cx="456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🔍 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8"/>
          <p:cNvSpPr/>
          <p:nvPr/>
        </p:nvSpPr>
        <p:spPr>
          <a:xfrm>
            <a:off x="804600" y="2011680"/>
            <a:ext cx="1188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5C800"/>
                </a:solidFill>
                <a:effectLst/>
                <a:uFillTx/>
                <a:latin typeface="Trebuchet MS"/>
                <a:ea typeface="Trebuchet MS"/>
              </a:rPr>
              <a:t>Rechercher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9"/>
          <p:cNvSpPr/>
          <p:nvPr/>
        </p:nvSpPr>
        <p:spPr>
          <a:xfrm>
            <a:off x="804600" y="2249280"/>
            <a:ext cx="33829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BBBBBB"/>
                </a:solidFill>
                <a:effectLst/>
                <a:uFillTx/>
                <a:latin typeface="Calibri"/>
                <a:ea typeface="Calibri"/>
              </a:rPr>
              <a:t>Filtrer par lieu, specialite, genre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10"/>
          <p:cNvSpPr/>
          <p:nvPr/>
        </p:nvSpPr>
        <p:spPr>
          <a:xfrm>
            <a:off x="384120" y="2670120"/>
            <a:ext cx="456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👤 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11"/>
          <p:cNvSpPr/>
          <p:nvPr/>
        </p:nvSpPr>
        <p:spPr>
          <a:xfrm>
            <a:off x="804600" y="2670120"/>
            <a:ext cx="1188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5C800"/>
                </a:solidFill>
                <a:effectLst/>
                <a:uFillTx/>
                <a:latin typeface="Trebuchet MS"/>
                <a:ea typeface="Trebuchet MS"/>
              </a:rPr>
              <a:t>Consulter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12"/>
          <p:cNvSpPr/>
          <p:nvPr/>
        </p:nvSpPr>
        <p:spPr>
          <a:xfrm>
            <a:off x="804600" y="2907720"/>
            <a:ext cx="33829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BBBBBB"/>
                </a:solidFill>
                <a:effectLst/>
                <a:uFillTx/>
                <a:latin typeface="Calibri"/>
                <a:ea typeface="Calibri"/>
              </a:rPr>
              <a:t>Profil, badge de confiance et avis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13"/>
          <p:cNvSpPr/>
          <p:nvPr/>
        </p:nvSpPr>
        <p:spPr>
          <a:xfrm>
            <a:off x="384120" y="3328560"/>
            <a:ext cx="456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📅 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14"/>
          <p:cNvSpPr/>
          <p:nvPr/>
        </p:nvSpPr>
        <p:spPr>
          <a:xfrm>
            <a:off x="804600" y="3328560"/>
            <a:ext cx="1188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5C800"/>
                </a:solidFill>
                <a:effectLst/>
                <a:uFillTx/>
                <a:latin typeface="Trebuchet MS"/>
                <a:ea typeface="Trebuchet MS"/>
              </a:rPr>
              <a:t>Reserver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15"/>
          <p:cNvSpPr/>
          <p:nvPr/>
        </p:nvSpPr>
        <p:spPr>
          <a:xfrm>
            <a:off x="804600" y="3566160"/>
            <a:ext cx="33829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BBBBBB"/>
                </a:solidFill>
                <a:effectLst/>
                <a:uFillTx/>
                <a:latin typeface="Calibri"/>
                <a:ea typeface="Calibri"/>
              </a:rPr>
              <a:t>Choisir un creneau, confirmer le RDV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16"/>
          <p:cNvSpPr/>
          <p:nvPr/>
        </p:nvSpPr>
        <p:spPr>
          <a:xfrm>
            <a:off x="384120" y="3986640"/>
            <a:ext cx="456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⭐ 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17"/>
          <p:cNvSpPr/>
          <p:nvPr/>
        </p:nvSpPr>
        <p:spPr>
          <a:xfrm>
            <a:off x="804600" y="3986640"/>
            <a:ext cx="1188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5C800"/>
                </a:solidFill>
                <a:effectLst/>
                <a:uFillTx/>
                <a:latin typeface="Trebuchet MS"/>
                <a:ea typeface="Trebuchet MS"/>
              </a:rPr>
              <a:t>Noter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18"/>
          <p:cNvSpPr/>
          <p:nvPr/>
        </p:nvSpPr>
        <p:spPr>
          <a:xfrm>
            <a:off x="804600" y="4224600"/>
            <a:ext cx="33829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BBBBBB"/>
                </a:solidFill>
                <a:effectLst/>
                <a:uFillTx/>
                <a:latin typeface="Calibri"/>
                <a:ea typeface="Calibri"/>
              </a:rPr>
              <a:t>Laisser un avis apres consultation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19"/>
          <p:cNvSpPr/>
          <p:nvPr/>
        </p:nvSpPr>
        <p:spPr>
          <a:xfrm>
            <a:off x="4773240" y="1115640"/>
            <a:ext cx="4114440" cy="3748680"/>
          </a:xfrm>
          <a:prstGeom prst="rect">
            <a:avLst/>
          </a:prstGeom>
          <a:solidFill>
            <a:srgbClr val="F5C800"/>
          </a:solidFill>
          <a:ln w="6350">
            <a:solidFill>
              <a:srgbClr val="F5C800"/>
            </a:solidFill>
            <a:round/>
          </a:ln>
          <a:effectLst>
            <a:outerShdw algn="bl" blurRad="203040" dir="8100000" dist="6313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20"/>
          <p:cNvSpPr/>
          <p:nvPr/>
        </p:nvSpPr>
        <p:spPr>
          <a:xfrm>
            <a:off x="4773240" y="1115640"/>
            <a:ext cx="4114440" cy="63720"/>
          </a:xfrm>
          <a:prstGeom prst="rect">
            <a:avLst/>
          </a:prstGeom>
          <a:solidFill>
            <a:srgbClr val="AB47BC"/>
          </a:solidFill>
          <a:ln w="12700">
            <a:solidFill>
              <a:srgbClr val="AB47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21"/>
          <p:cNvSpPr/>
          <p:nvPr/>
        </p:nvSpPr>
        <p:spPr>
          <a:xfrm>
            <a:off x="4901040" y="1261800"/>
            <a:ext cx="694440" cy="694440"/>
          </a:xfrm>
          <a:prstGeom prst="ellipse">
            <a:avLst/>
          </a:prstGeom>
          <a:solidFill>
            <a:srgbClr val="F3E5F5"/>
          </a:solidFill>
          <a:ln w="12700">
            <a:solidFill>
              <a:srgbClr val="F3E5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1" name="Image 1" descr="preencoded.png"/>
          <p:cNvPicPr/>
          <p:nvPr/>
        </p:nvPicPr>
        <p:blipFill>
          <a:blip r:embed="rId2"/>
          <a:stretch/>
        </p:blipFill>
        <p:spPr>
          <a:xfrm>
            <a:off x="5019480" y="1379880"/>
            <a:ext cx="458280" cy="458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2" name="Text 22"/>
          <p:cNvSpPr/>
          <p:nvPr/>
        </p:nvSpPr>
        <p:spPr>
          <a:xfrm>
            <a:off x="5706000" y="1316880"/>
            <a:ext cx="2925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AB47BC"/>
                </a:solidFill>
                <a:effectLst/>
                <a:uFillTx/>
                <a:latin typeface="Georgia"/>
                <a:ea typeface="Georgia"/>
              </a:rPr>
              <a:t>Admin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23"/>
          <p:cNvSpPr/>
          <p:nvPr/>
        </p:nvSpPr>
        <p:spPr>
          <a:xfrm>
            <a:off x="4901040" y="2011680"/>
            <a:ext cx="456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👥 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24"/>
          <p:cNvSpPr/>
          <p:nvPr/>
        </p:nvSpPr>
        <p:spPr>
          <a:xfrm>
            <a:off x="5321880" y="2011680"/>
            <a:ext cx="137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11111"/>
                </a:solidFill>
                <a:effectLst/>
                <a:uFillTx/>
                <a:latin typeface="Trebuchet MS"/>
                <a:ea typeface="Trebuchet MS"/>
              </a:rPr>
              <a:t>Utilisateurs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25"/>
          <p:cNvSpPr/>
          <p:nvPr/>
        </p:nvSpPr>
        <p:spPr>
          <a:xfrm>
            <a:off x="5321880" y="2249280"/>
            <a:ext cx="33829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2D2D2D"/>
                </a:solidFill>
                <a:effectLst/>
                <a:uFillTx/>
                <a:latin typeface="Calibri"/>
                <a:ea typeface="Calibri"/>
              </a:rPr>
              <a:t>Activer ou suspendre des comptes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26"/>
          <p:cNvSpPr/>
          <p:nvPr/>
        </p:nvSpPr>
        <p:spPr>
          <a:xfrm>
            <a:off x="4901040" y="2670120"/>
            <a:ext cx="456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🏥 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27"/>
          <p:cNvSpPr/>
          <p:nvPr/>
        </p:nvSpPr>
        <p:spPr>
          <a:xfrm>
            <a:off x="5321880" y="2670120"/>
            <a:ext cx="137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11111"/>
                </a:solidFill>
                <a:effectLst/>
                <a:uFillTx/>
                <a:latin typeface="Trebuchet MS"/>
                <a:ea typeface="Trebuchet MS"/>
              </a:rPr>
              <a:t>Verifier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28"/>
          <p:cNvSpPr/>
          <p:nvPr/>
        </p:nvSpPr>
        <p:spPr>
          <a:xfrm>
            <a:off x="5321880" y="2907720"/>
            <a:ext cx="33829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2D2D2D"/>
                </a:solidFill>
                <a:effectLst/>
                <a:uFillTx/>
                <a:latin typeface="Calibri"/>
                <a:ea typeface="Calibri"/>
              </a:rPr>
              <a:t>Approuver les demandes de badge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29"/>
          <p:cNvSpPr/>
          <p:nvPr/>
        </p:nvSpPr>
        <p:spPr>
          <a:xfrm>
            <a:off x="4901040" y="3328560"/>
            <a:ext cx="456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💬 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30"/>
          <p:cNvSpPr/>
          <p:nvPr/>
        </p:nvSpPr>
        <p:spPr>
          <a:xfrm>
            <a:off x="5321880" y="3328560"/>
            <a:ext cx="137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11111"/>
                </a:solidFill>
                <a:effectLst/>
                <a:uFillTx/>
                <a:latin typeface="Trebuchet MS"/>
                <a:ea typeface="Trebuchet MS"/>
              </a:rPr>
              <a:t>Avis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31"/>
          <p:cNvSpPr/>
          <p:nvPr/>
        </p:nvSpPr>
        <p:spPr>
          <a:xfrm>
            <a:off x="5321880" y="3566160"/>
            <a:ext cx="33829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2D2D2D"/>
                </a:solidFill>
                <a:effectLst/>
                <a:uFillTx/>
                <a:latin typeface="Calibri"/>
                <a:ea typeface="Calibri"/>
              </a:rPr>
              <a:t>Moderer et supprimer du contenu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32"/>
          <p:cNvSpPr/>
          <p:nvPr/>
        </p:nvSpPr>
        <p:spPr>
          <a:xfrm>
            <a:off x="4901040" y="3986640"/>
            <a:ext cx="456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111"/>
                </a:solidFill>
                <a:effectLst/>
                <a:uFillTx/>
                <a:latin typeface="Calibri"/>
                <a:ea typeface="Calibri"/>
              </a:rPr>
              <a:t>📊 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33"/>
          <p:cNvSpPr/>
          <p:nvPr/>
        </p:nvSpPr>
        <p:spPr>
          <a:xfrm>
            <a:off x="5321880" y="3986640"/>
            <a:ext cx="137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11111"/>
                </a:solidFill>
                <a:effectLst/>
                <a:uFillTx/>
                <a:latin typeface="Trebuchet MS"/>
                <a:ea typeface="Trebuchet MS"/>
              </a:rPr>
              <a:t>Tableau de bord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34"/>
          <p:cNvSpPr/>
          <p:nvPr/>
        </p:nvSpPr>
        <p:spPr>
          <a:xfrm>
            <a:off x="5321880" y="4224600"/>
            <a:ext cx="33829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2D2D2D"/>
                </a:solidFill>
                <a:effectLst/>
                <a:uFillTx/>
                <a:latin typeface="Calibri"/>
                <a:ea typeface="Calibri"/>
              </a:rPr>
              <a:t>Vue d'ensemble de l'activite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Shape 0"/>
          <p:cNvSpPr/>
          <p:nvPr/>
        </p:nvSpPr>
        <p:spPr>
          <a:xfrm>
            <a:off x="0" y="0"/>
            <a:ext cx="9143640" cy="9324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1"/>
          <p:cNvSpPr/>
          <p:nvPr/>
        </p:nvSpPr>
        <p:spPr>
          <a:xfrm>
            <a:off x="0" y="896040"/>
            <a:ext cx="9143640" cy="63720"/>
          </a:xfrm>
          <a:prstGeom prst="rect">
            <a:avLst/>
          </a:prstGeom>
          <a:solidFill>
            <a:srgbClr val="F5C800"/>
          </a:solidFill>
          <a:ln w="12700">
            <a:solidFill>
              <a:srgbClr val="F5C8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2"/>
          <p:cNvSpPr/>
          <p:nvPr/>
        </p:nvSpPr>
        <p:spPr>
          <a:xfrm>
            <a:off x="384120" y="9144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Conclusion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3"/>
          <p:cNvSpPr/>
          <p:nvPr/>
        </p:nvSpPr>
        <p:spPr>
          <a:xfrm>
            <a:off x="7498080" y="3200400"/>
            <a:ext cx="2285640" cy="2285640"/>
          </a:xfrm>
          <a:prstGeom prst="ellipse">
            <a:avLst/>
          </a:prstGeom>
          <a:solidFill>
            <a:srgbClr val="FFF8D6"/>
          </a:solidFill>
          <a:ln w="12700">
            <a:solidFill>
              <a:srgbClr val="F5C8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4"/>
          <p:cNvSpPr/>
          <p:nvPr/>
        </p:nvSpPr>
        <p:spPr>
          <a:xfrm>
            <a:off x="274320" y="1115640"/>
            <a:ext cx="4205880" cy="1663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round/>
          </a:ln>
          <a:effectLst>
            <a:outerShdw algn="bl" blurRad="203040" dir="8100000" dist="6313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5"/>
          <p:cNvSpPr/>
          <p:nvPr/>
        </p:nvSpPr>
        <p:spPr>
          <a:xfrm>
            <a:off x="274320" y="1115640"/>
            <a:ext cx="4205880" cy="63720"/>
          </a:xfrm>
          <a:prstGeom prst="rect">
            <a:avLst/>
          </a:prstGeom>
          <a:solidFill>
            <a:srgbClr val="FF5252"/>
          </a:solidFill>
          <a:ln w="12700">
            <a:solidFill>
              <a:srgbClr val="FF52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6"/>
          <p:cNvSpPr/>
          <p:nvPr/>
        </p:nvSpPr>
        <p:spPr>
          <a:xfrm>
            <a:off x="274320" y="1115640"/>
            <a:ext cx="109440" cy="1663920"/>
          </a:xfrm>
          <a:prstGeom prst="rect">
            <a:avLst/>
          </a:prstGeom>
          <a:solidFill>
            <a:srgbClr val="FF5252"/>
          </a:solidFill>
          <a:ln w="12700">
            <a:solidFill>
              <a:srgbClr val="FF52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7"/>
          <p:cNvSpPr/>
          <p:nvPr/>
        </p:nvSpPr>
        <p:spPr>
          <a:xfrm>
            <a:off x="493920" y="1572840"/>
            <a:ext cx="658080" cy="658080"/>
          </a:xfrm>
          <a:prstGeom prst="ellipse">
            <a:avLst/>
          </a:prstGeom>
          <a:solidFill>
            <a:srgbClr val="FCE4EC"/>
          </a:solidFill>
          <a:ln w="12700">
            <a:solidFill>
              <a:srgbClr val="FCE4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3" name="Image 0" descr="preencoded.png"/>
          <p:cNvPicPr/>
          <p:nvPr/>
        </p:nvPicPr>
        <p:blipFill>
          <a:blip r:embed="rId1"/>
          <a:stretch/>
        </p:blipFill>
        <p:spPr>
          <a:xfrm>
            <a:off x="605520" y="1684800"/>
            <a:ext cx="434160" cy="434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4" name="Text 8"/>
          <p:cNvSpPr/>
          <p:nvPr/>
        </p:nvSpPr>
        <p:spPr>
          <a:xfrm>
            <a:off x="1316880" y="1408320"/>
            <a:ext cx="29257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11111"/>
                </a:solidFill>
                <a:effectLst/>
                <a:uFillTx/>
                <a:latin typeface="Trebuchet MS"/>
                <a:ea typeface="Trebuchet MS"/>
              </a:rPr>
              <a:t>Couverture Complete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9"/>
          <p:cNvSpPr/>
          <p:nvPr/>
        </p:nvSpPr>
        <p:spPr>
          <a:xfrm>
            <a:off x="1316880" y="1865520"/>
            <a:ext cx="292572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55555"/>
                </a:solidFill>
                <a:effectLst/>
                <a:uFillTx/>
                <a:latin typeface="Calibri"/>
                <a:ea typeface="Calibri"/>
              </a:rPr>
              <a:t>De la recherche a la moderation, bout en bout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10"/>
          <p:cNvSpPr/>
          <p:nvPr/>
        </p:nvSpPr>
        <p:spPr>
          <a:xfrm>
            <a:off x="4709160" y="1115640"/>
            <a:ext cx="4205880" cy="1663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round/>
          </a:ln>
          <a:effectLst>
            <a:outerShdw algn="bl" blurRad="203040" dir="8100000" dist="6313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Shape 11"/>
          <p:cNvSpPr/>
          <p:nvPr/>
        </p:nvSpPr>
        <p:spPr>
          <a:xfrm>
            <a:off x="4709160" y="1115640"/>
            <a:ext cx="4205880" cy="63720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12"/>
          <p:cNvSpPr/>
          <p:nvPr/>
        </p:nvSpPr>
        <p:spPr>
          <a:xfrm>
            <a:off x="4709160" y="1115640"/>
            <a:ext cx="109440" cy="1663920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13"/>
          <p:cNvSpPr/>
          <p:nvPr/>
        </p:nvSpPr>
        <p:spPr>
          <a:xfrm>
            <a:off x="4928760" y="1572840"/>
            <a:ext cx="658080" cy="658080"/>
          </a:xfrm>
          <a:prstGeom prst="ellipse">
            <a:avLst/>
          </a:prstGeom>
          <a:solidFill>
            <a:srgbClr val="E8F5E9"/>
          </a:solidFill>
          <a:ln w="12700">
            <a:solidFill>
              <a:srgbClr val="E8F5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0" name="Image 1" descr="preencoded.png"/>
          <p:cNvPicPr/>
          <p:nvPr/>
        </p:nvPicPr>
        <p:blipFill>
          <a:blip r:embed="rId2"/>
          <a:stretch/>
        </p:blipFill>
        <p:spPr>
          <a:xfrm>
            <a:off x="5040360" y="1684800"/>
            <a:ext cx="434160" cy="434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1" name="Text 14"/>
          <p:cNvSpPr/>
          <p:nvPr/>
        </p:nvSpPr>
        <p:spPr>
          <a:xfrm>
            <a:off x="5751720" y="1408320"/>
            <a:ext cx="29257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11111"/>
                </a:solidFill>
                <a:effectLst/>
                <a:uFillTx/>
                <a:latin typeface="Trebuchet MS"/>
                <a:ea typeface="Trebuchet MS"/>
              </a:rPr>
              <a:t>Planification Intelligente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15"/>
          <p:cNvSpPr/>
          <p:nvPr/>
        </p:nvSpPr>
        <p:spPr>
          <a:xfrm>
            <a:off x="5751720" y="1865520"/>
            <a:ext cx="292572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55555"/>
                </a:solidFill>
                <a:effectLst/>
                <a:uFillTx/>
                <a:latin typeface="Calibri"/>
                <a:ea typeface="Calibri"/>
              </a:rPr>
              <a:t>Disponibilite en temps reel &amp; prevention des conflits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16"/>
          <p:cNvSpPr/>
          <p:nvPr/>
        </p:nvSpPr>
        <p:spPr>
          <a:xfrm>
            <a:off x="274320" y="2926080"/>
            <a:ext cx="4205880" cy="1663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round/>
          </a:ln>
          <a:effectLst>
            <a:outerShdw algn="bl" blurRad="203040" dir="8100000" dist="6313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17"/>
          <p:cNvSpPr/>
          <p:nvPr/>
        </p:nvSpPr>
        <p:spPr>
          <a:xfrm>
            <a:off x="274320" y="2926080"/>
            <a:ext cx="4205880" cy="63720"/>
          </a:xfrm>
          <a:prstGeom prst="rect">
            <a:avLst/>
          </a:prstGeom>
          <a:solidFill>
            <a:srgbClr val="AB47BC"/>
          </a:solidFill>
          <a:ln w="12700">
            <a:solidFill>
              <a:srgbClr val="AB47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Shape 18"/>
          <p:cNvSpPr/>
          <p:nvPr/>
        </p:nvSpPr>
        <p:spPr>
          <a:xfrm>
            <a:off x="274320" y="2926080"/>
            <a:ext cx="109440" cy="1663920"/>
          </a:xfrm>
          <a:prstGeom prst="rect">
            <a:avLst/>
          </a:prstGeom>
          <a:solidFill>
            <a:srgbClr val="AB47BC"/>
          </a:solidFill>
          <a:ln w="12700">
            <a:solidFill>
              <a:srgbClr val="AB47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Shape 19"/>
          <p:cNvSpPr/>
          <p:nvPr/>
        </p:nvSpPr>
        <p:spPr>
          <a:xfrm>
            <a:off x="493920" y="3383280"/>
            <a:ext cx="658080" cy="658080"/>
          </a:xfrm>
          <a:prstGeom prst="ellipse">
            <a:avLst/>
          </a:prstGeom>
          <a:solidFill>
            <a:srgbClr val="F3E5F5"/>
          </a:solidFill>
          <a:ln w="12700">
            <a:solidFill>
              <a:srgbClr val="F3E5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7" name="Image 2" descr="preencoded.png"/>
          <p:cNvPicPr/>
          <p:nvPr/>
        </p:nvPicPr>
        <p:blipFill>
          <a:blip r:embed="rId3"/>
          <a:stretch/>
        </p:blipFill>
        <p:spPr>
          <a:xfrm>
            <a:off x="605520" y="3495240"/>
            <a:ext cx="434160" cy="434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8" name="Text 20"/>
          <p:cNvSpPr/>
          <p:nvPr/>
        </p:nvSpPr>
        <p:spPr>
          <a:xfrm>
            <a:off x="1316880" y="3218760"/>
            <a:ext cx="29257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11111"/>
                </a:solidFill>
                <a:effectLst/>
                <a:uFillTx/>
                <a:latin typeface="Trebuchet MS"/>
                <a:ea typeface="Trebuchet MS"/>
              </a:rPr>
              <a:t>Confiance &amp; Gouvernance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21"/>
          <p:cNvSpPr/>
          <p:nvPr/>
        </p:nvSpPr>
        <p:spPr>
          <a:xfrm>
            <a:off x="1316880" y="3675960"/>
            <a:ext cx="292572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55555"/>
                </a:solidFill>
                <a:effectLst/>
                <a:uFillTx/>
                <a:latin typeface="Calibri"/>
                <a:ea typeface="Calibri"/>
              </a:rPr>
              <a:t>Badges de verification &amp; supervision admin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22"/>
          <p:cNvSpPr/>
          <p:nvPr/>
        </p:nvSpPr>
        <p:spPr>
          <a:xfrm>
            <a:off x="4709160" y="2926080"/>
            <a:ext cx="4205880" cy="1663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round/>
          </a:ln>
          <a:effectLst>
            <a:outerShdw algn="bl" blurRad="203040" dir="8100000" dist="6313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23"/>
          <p:cNvSpPr/>
          <p:nvPr/>
        </p:nvSpPr>
        <p:spPr>
          <a:xfrm>
            <a:off x="4709160" y="2926080"/>
            <a:ext cx="4205880" cy="63720"/>
          </a:xfrm>
          <a:prstGeom prst="rect">
            <a:avLst/>
          </a:prstGeom>
          <a:solidFill>
            <a:srgbClr val="FFA726"/>
          </a:solidFill>
          <a:ln w="12700">
            <a:solidFill>
              <a:srgbClr val="FFA7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24"/>
          <p:cNvSpPr/>
          <p:nvPr/>
        </p:nvSpPr>
        <p:spPr>
          <a:xfrm>
            <a:off x="4709160" y="2926080"/>
            <a:ext cx="109440" cy="1663920"/>
          </a:xfrm>
          <a:prstGeom prst="rect">
            <a:avLst/>
          </a:prstGeom>
          <a:solidFill>
            <a:srgbClr val="FFA726"/>
          </a:solidFill>
          <a:ln w="12700">
            <a:solidFill>
              <a:srgbClr val="FFA7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25"/>
          <p:cNvSpPr/>
          <p:nvPr/>
        </p:nvSpPr>
        <p:spPr>
          <a:xfrm>
            <a:off x="4928760" y="3383280"/>
            <a:ext cx="658080" cy="658080"/>
          </a:xfrm>
          <a:prstGeom prst="ellipse">
            <a:avLst/>
          </a:prstGeom>
          <a:solidFill>
            <a:srgbClr val="FFF3E0"/>
          </a:solidFill>
          <a:ln w="12700">
            <a:solidFill>
              <a:srgbClr val="FFF3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4" name="Image 3" descr="preencoded.png"/>
          <p:cNvPicPr/>
          <p:nvPr/>
        </p:nvPicPr>
        <p:blipFill>
          <a:blip r:embed="rId4"/>
          <a:stretch/>
        </p:blipFill>
        <p:spPr>
          <a:xfrm>
            <a:off x="5040360" y="3495240"/>
            <a:ext cx="434160" cy="434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5" name="Text 26"/>
          <p:cNvSpPr/>
          <p:nvPr/>
        </p:nvSpPr>
        <p:spPr>
          <a:xfrm>
            <a:off x="5751720" y="3218760"/>
            <a:ext cx="29257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11111"/>
                </a:solidFill>
                <a:effectLst/>
                <a:uFillTx/>
                <a:latin typeface="Trebuchet MS"/>
                <a:ea typeface="Trebuchet MS"/>
              </a:rPr>
              <a:t>Architecture Propre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27"/>
          <p:cNvSpPr/>
          <p:nvPr/>
        </p:nvSpPr>
        <p:spPr>
          <a:xfrm>
            <a:off x="5751720" y="3675960"/>
            <a:ext cx="292572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555555"/>
                </a:solidFill>
                <a:effectLst/>
                <a:uFillTx/>
                <a:latin typeface="Calibri"/>
                <a:ea typeface="Calibri"/>
              </a:rPr>
              <a:t>APIs decouplees, evolutive et maintenable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28"/>
          <p:cNvSpPr/>
          <p:nvPr/>
        </p:nvSpPr>
        <p:spPr>
          <a:xfrm>
            <a:off x="0" y="4864680"/>
            <a:ext cx="9143640" cy="2786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29"/>
          <p:cNvSpPr/>
          <p:nvPr/>
        </p:nvSpPr>
        <p:spPr>
          <a:xfrm>
            <a:off x="0" y="4864680"/>
            <a:ext cx="9143640" cy="27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5C800"/>
                </a:solidFill>
                <a:effectLst/>
                <a:uFillTx/>
                <a:latin typeface="Trebuchet MS"/>
                <a:ea typeface="Trebuchet MS"/>
              </a:rPr>
              <a:t>DOCTUSS  ·  Une plateforme de sante complete et prete a l'emploi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Application>LibreOffice/26.2.2.2$Linux_X86_64 LibreOffice_project/b8d3d8168498fa6cc231901342a3b8d72dd2bb7e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2026-04-21T21:11:59Z</dcterms:created>
  <dc:creator>PptxGenJS</dc:creator>
  <dc:description/>
  <dc:language>en-US</dc:language>
  <cp:lastModifiedBy/>
  <dcterms:modified xsi:type="dcterms:W3CDTF">2026-04-21T22:48:11Z</dcterms:modified>
  <cp:revision>2</cp:revision>
  <dc:subject>PptxGenJS Presentation</dc:subject>
  <dc:title>Doctuss - Plateforme de Sante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8</vt:i4>
  </property>
  <property fmtid="{D5CDD505-2E9C-101B-9397-08002B2CF9AE}" pid="3" name="PresentationFormat">
    <vt:lpwstr>On-screen Show (16:9)</vt:lpwstr>
  </property>
  <property fmtid="{D5CDD505-2E9C-101B-9397-08002B2CF9AE}" pid="4" name="Slides">
    <vt:i4>8</vt:i4>
  </property>
</Properties>
</file>